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447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9EDF1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09728"/>
            <a:ext cx="91440" cy="91440"/>
          </a:xfrm>
          <a:prstGeom prst="ellipse">
            <a:avLst/>
          </a:prstGeom>
          <a:solidFill>
            <a:srgbClr val="E0645A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109728"/>
            <a:ext cx="91440" cy="914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09728"/>
            <a:ext cx="91440" cy="91440"/>
          </a:xfrm>
          <a:prstGeom prst="ellipse">
            <a:avLst/>
          </a:prstGeom>
          <a:solidFill>
            <a:srgbClr val="5FB77E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54864"/>
            <a:ext cx="484632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3D9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0292"/>
            <a:ext cx="4846320" cy="18288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civil.iitm.ac.in/faculty/nbalaji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292608"/>
            <a:ext cx="12191695" cy="585216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29260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BALAJI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NARASIMHAN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26718" y="402336"/>
            <a:ext cx="453542" cy="365760"/>
          </a:xfrm>
          <a:prstGeom prst="roundRect">
            <a:avLst>
              <a:gd name="adj" fmla="val 15000"/>
            </a:avLst>
          </a:prstGeom>
          <a:solidFill>
            <a:srgbClr val="D99A2B"/>
          </a:solidFill>
          <a:ln/>
        </p:spPr>
      </p:sp>
      <p:sp>
        <p:nvSpPr>
          <p:cNvPr id="11" name="Text 9"/>
          <p:cNvSpPr/>
          <p:nvPr/>
        </p:nvSpPr>
        <p:spPr>
          <a:xfrm>
            <a:off x="1626718" y="402336"/>
            <a:ext cx="453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2162556" y="402336"/>
            <a:ext cx="687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2932481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Projects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4287622" y="402336"/>
            <a:ext cx="12143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Teaching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5584241" y="402336"/>
            <a:ext cx="1331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6997903" y="402336"/>
            <a:ext cx="86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7943393" y="402336"/>
            <a:ext cx="570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8596274" y="402336"/>
            <a:ext cx="9217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9600286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Achievements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10955426" y="402336"/>
            <a:ext cx="9802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our Team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305" y="2913640"/>
            <a:ext cx="12191695" cy="2709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47142" y="3167811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b="1" dirty="0">
              <a:solidFill>
                <a:srgbClr val="0B2A4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Prof. Balaji Narasimhan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80060" y="3859833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Department of Civil Engineering  |  Indian Institute of Technology Madras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8487" y="4174236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Hydrologist with 22+ years of experience modelling the impact of land use and climate change on hydrology using GIS, remote sensing, and hydrologic / hydraulic / crop-growth models at large river-basin scales. Lead investigator on India's flood forecasting systems and the Ganga River Basin Management Plan.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2862" y="5202936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0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476551" y="52166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Research →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67382" y="5202936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D99A2B"/>
          </a:solidFill>
          <a:ln/>
        </p:spPr>
      </p:sp>
      <p:sp>
        <p:nvSpPr>
          <p:cNvPr id="28" name="Text 26"/>
          <p:cNvSpPr/>
          <p:nvPr/>
        </p:nvSpPr>
        <p:spPr>
          <a:xfrm>
            <a:off x="2351071" y="52166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our Team →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30184" y="5036855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Balaji Narasimhan</a:t>
            </a:r>
            <a:br>
              <a:rPr lang="en-US" sz="950" i="1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i="1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Hydraulics and Water Resources Engineering Division</a:t>
            </a:r>
            <a:br>
              <a:rPr lang="en-US" sz="950" i="1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i="1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Civil Engineering, IIT Madras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5623560"/>
            <a:ext cx="12191695" cy="960120"/>
          </a:xfrm>
          <a:prstGeom prst="rect">
            <a:avLst/>
          </a:prstGeom>
          <a:solidFill>
            <a:srgbClr val="081D33"/>
          </a:solidFill>
          <a:ln/>
        </p:spPr>
      </p:sp>
      <p:sp>
        <p:nvSpPr>
          <p:cNvPr id="45" name="Shape 43"/>
          <p:cNvSpPr/>
          <p:nvPr/>
        </p:nvSpPr>
        <p:spPr>
          <a:xfrm>
            <a:off x="457200" y="5806440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66928" y="580644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Forecast – Real Time Flood Forecasting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319272" y="5806440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29000" y="580644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Advisory - </a:t>
            </a: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Neerpasanam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81344" y="5806440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580644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modeling - Surface Energy Balance Models 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043416" y="5806440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0B2A4A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53144" y="580644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of Low Impact Development for Sustainable Urban Drainage Systems (SuDS)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storyboard — Prof. Balaji Narasimhan, Dept. of Civil Engineering, IIT Madras   |   1 / 10</a:t>
            </a:r>
            <a:endParaRPr lang="en-US" sz="750" dirty="0"/>
          </a:p>
        </p:txBody>
      </p:sp>
      <p:sp>
        <p:nvSpPr>
          <p:cNvPr id="54" name="Shape 19">
            <a:extLst>
              <a:ext uri="{FF2B5EF4-FFF2-40B4-BE49-F238E27FC236}">
                <a16:creationId xmlns:a16="http://schemas.microsoft.com/office/drawing/2014/main" id="{CF25F20C-1EFC-4633-BC45-3BB582D8098D}"/>
              </a:ext>
            </a:extLst>
          </p:cNvPr>
          <p:cNvSpPr/>
          <p:nvPr/>
        </p:nvSpPr>
        <p:spPr>
          <a:xfrm>
            <a:off x="305" y="878462"/>
            <a:ext cx="12191695" cy="20250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018D57B-B9A9-4782-967A-0F16D4D2F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096" y="3002528"/>
            <a:ext cx="2073426" cy="2038113"/>
          </a:xfrm>
          <a:prstGeom prst="rect">
            <a:avLst/>
          </a:prstGeom>
        </p:spPr>
      </p:pic>
      <p:sp>
        <p:nvSpPr>
          <p:cNvPr id="58" name="Text 20">
            <a:extLst>
              <a:ext uri="{FF2B5EF4-FFF2-40B4-BE49-F238E27FC236}">
                <a16:creationId xmlns:a16="http://schemas.microsoft.com/office/drawing/2014/main" id="{500E8097-E290-4515-A68D-9E95788EBC25}"/>
              </a:ext>
            </a:extLst>
          </p:cNvPr>
          <p:cNvSpPr/>
          <p:nvPr/>
        </p:nvSpPr>
        <p:spPr>
          <a:xfrm>
            <a:off x="-15088" y="1367028"/>
            <a:ext cx="12191695" cy="911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b="1" dirty="0">
              <a:solidFill>
                <a:srgbClr val="0B2A4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 scrolling horizontally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9EDF1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09728"/>
            <a:ext cx="91440" cy="91440"/>
          </a:xfrm>
          <a:prstGeom prst="ellipse">
            <a:avLst/>
          </a:prstGeom>
          <a:solidFill>
            <a:srgbClr val="E0645A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109728"/>
            <a:ext cx="91440" cy="914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09728"/>
            <a:ext cx="91440" cy="91440"/>
          </a:xfrm>
          <a:prstGeom prst="ellipse">
            <a:avLst/>
          </a:prstGeom>
          <a:solidFill>
            <a:srgbClr val="5FB77E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54864"/>
            <a:ext cx="484632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3D9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0292"/>
            <a:ext cx="4846320" cy="18288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civil.iitm.ac.in/faculty/nbalaji/research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292608"/>
            <a:ext cx="12191695" cy="585216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29260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BALAJI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NARASIMHAN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26718" y="402336"/>
            <a:ext cx="453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162556" y="402336"/>
            <a:ext cx="687629" cy="365760"/>
          </a:xfrm>
          <a:prstGeom prst="roundRect">
            <a:avLst>
              <a:gd name="adj" fmla="val 15000"/>
            </a:avLst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2162556" y="402336"/>
            <a:ext cx="687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2932481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Projects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4287622" y="402336"/>
            <a:ext cx="12143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Teaching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6997903" y="402336"/>
            <a:ext cx="86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7943393" y="402336"/>
            <a:ext cx="570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8596274" y="402336"/>
            <a:ext cx="9217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9600286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Achievements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10955426" y="402336"/>
            <a:ext cx="9802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our Team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02920" y="1508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focus areas of the Environmental &amp; Water Resources Engineering Laboratory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2011680"/>
            <a:ext cx="267004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2194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2157984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Forecasting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288036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&amp; radar/satellite rainfall for hydrologic modelling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37560" y="2011680"/>
            <a:ext cx="267004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0440" y="2194560"/>
            <a:ext cx="457200" cy="45720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0" y="2157984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Forecasting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520440" y="288036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flood forecasting systems for Indian river basins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72200" y="2011680"/>
            <a:ext cx="267004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2194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49440" y="2157984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Advisory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355080" y="288036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Weather-based advisories for efficient irrigation scheduling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006840" y="2011680"/>
            <a:ext cx="267004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89720" y="2194560"/>
            <a:ext cx="457200" cy="45720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40" name="Text 38"/>
          <p:cNvSpPr/>
          <p:nvPr/>
        </p:nvSpPr>
        <p:spPr>
          <a:xfrm>
            <a:off x="91897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784080" y="2157984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 Development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189720" y="288036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drainage systems (SuDS) for urban flood mitigation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" y="3904488"/>
            <a:ext cx="267004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" y="40873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280160" y="4050792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Energy Balance / ET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85800" y="4773168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Remote-sensing based ET estimation for water management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337560" y="3904488"/>
            <a:ext cx="267004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4087368"/>
            <a:ext cx="457200" cy="45720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50" name="Text 48"/>
          <p:cNvSpPr/>
          <p:nvPr/>
        </p:nvSpPr>
        <p:spPr>
          <a:xfrm>
            <a:off x="35204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114800" y="4050792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Resources Management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3520440" y="4773168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surface water – groundwater simulation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72200" y="3904488"/>
            <a:ext cx="267004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55080" y="40873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6" name="Text 54"/>
          <p:cNvSpPr/>
          <p:nvPr/>
        </p:nvSpPr>
        <p:spPr>
          <a:xfrm>
            <a:off x="6949440" y="4050792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Prosopis Juliflora Mapping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355080" y="4773168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mapping and ET flux estimation using remote sensing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storyboard — Prof. Balaji Narasimhan, Dept. of Civil Engineering, IIT Madras   |   2 / 10</a:t>
            </a:r>
            <a:endParaRPr lang="en-US" sz="750" dirty="0"/>
          </a:p>
        </p:txBody>
      </p:sp>
      <p:sp>
        <p:nvSpPr>
          <p:cNvPr id="59" name="Shape 51">
            <a:extLst>
              <a:ext uri="{FF2B5EF4-FFF2-40B4-BE49-F238E27FC236}">
                <a16:creationId xmlns:a16="http://schemas.microsoft.com/office/drawing/2014/main" id="{82BC3524-C229-4D07-95E7-A051666C0D4C}"/>
              </a:ext>
            </a:extLst>
          </p:cNvPr>
          <p:cNvSpPr/>
          <p:nvPr/>
        </p:nvSpPr>
        <p:spPr>
          <a:xfrm>
            <a:off x="9125712" y="3863659"/>
            <a:ext cx="267004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60" name="Shape 52">
            <a:extLst>
              <a:ext uri="{FF2B5EF4-FFF2-40B4-BE49-F238E27FC236}">
                <a16:creationId xmlns:a16="http://schemas.microsoft.com/office/drawing/2014/main" id="{68703825-FA90-488B-947E-F2316314005F}"/>
              </a:ext>
            </a:extLst>
          </p:cNvPr>
          <p:cNvSpPr/>
          <p:nvPr/>
        </p:nvSpPr>
        <p:spPr>
          <a:xfrm>
            <a:off x="9189720" y="40325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1" name="Text 54">
            <a:extLst>
              <a:ext uri="{FF2B5EF4-FFF2-40B4-BE49-F238E27FC236}">
                <a16:creationId xmlns:a16="http://schemas.microsoft.com/office/drawing/2014/main" id="{97B7ED8E-83A7-48FE-B9DE-25AEFDB1A7EE}"/>
              </a:ext>
            </a:extLst>
          </p:cNvPr>
          <p:cNvSpPr/>
          <p:nvPr/>
        </p:nvSpPr>
        <p:spPr>
          <a:xfrm>
            <a:off x="9784080" y="399592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scale projects</a:t>
            </a:r>
            <a:endParaRPr lang="en-US" sz="1150" dirty="0"/>
          </a:p>
        </p:txBody>
      </p:sp>
      <p:sp>
        <p:nvSpPr>
          <p:cNvPr id="62" name="Text 55">
            <a:extLst>
              <a:ext uri="{FF2B5EF4-FFF2-40B4-BE49-F238E27FC236}">
                <a16:creationId xmlns:a16="http://schemas.microsoft.com/office/drawing/2014/main" id="{186181CB-1ADC-43BC-8C1F-D6ABDB44F9CB}"/>
              </a:ext>
            </a:extLst>
          </p:cNvPr>
          <p:cNvSpPr/>
          <p:nvPr/>
        </p:nvSpPr>
        <p:spPr>
          <a:xfrm>
            <a:off x="9189720" y="4718304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mapping and ET flux estimation using remote sensing</a:t>
            </a:r>
            <a:endParaRPr lang="en-US" sz="900" dirty="0"/>
          </a:p>
        </p:txBody>
      </p:sp>
      <p:sp>
        <p:nvSpPr>
          <p:cNvPr id="64" name="Text 53">
            <a:extLst>
              <a:ext uri="{FF2B5EF4-FFF2-40B4-BE49-F238E27FC236}">
                <a16:creationId xmlns:a16="http://schemas.microsoft.com/office/drawing/2014/main" id="{77273010-CEC7-44DF-B6C3-220FD0D50200}"/>
              </a:ext>
            </a:extLst>
          </p:cNvPr>
          <p:cNvSpPr/>
          <p:nvPr/>
        </p:nvSpPr>
        <p:spPr>
          <a:xfrm>
            <a:off x="6377834" y="40847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5" name="Text 53">
            <a:extLst>
              <a:ext uri="{FF2B5EF4-FFF2-40B4-BE49-F238E27FC236}">
                <a16:creationId xmlns:a16="http://schemas.microsoft.com/office/drawing/2014/main" id="{BEF81123-098E-4BF5-924D-F8337596F1F6}"/>
              </a:ext>
            </a:extLst>
          </p:cNvPr>
          <p:cNvSpPr/>
          <p:nvPr/>
        </p:nvSpPr>
        <p:spPr>
          <a:xfrm>
            <a:off x="9198864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6" name="Text 13">
            <a:extLst>
              <a:ext uri="{FF2B5EF4-FFF2-40B4-BE49-F238E27FC236}">
                <a16:creationId xmlns:a16="http://schemas.microsoft.com/office/drawing/2014/main" id="{CA6BF64A-B6EB-492F-A5E0-94D88D86A79B}"/>
              </a:ext>
            </a:extLst>
          </p:cNvPr>
          <p:cNvSpPr/>
          <p:nvPr/>
        </p:nvSpPr>
        <p:spPr>
          <a:xfrm>
            <a:off x="5584241" y="402336"/>
            <a:ext cx="1331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9EDF1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09728"/>
            <a:ext cx="91440" cy="91440"/>
          </a:xfrm>
          <a:prstGeom prst="ellipse">
            <a:avLst/>
          </a:prstGeom>
          <a:solidFill>
            <a:srgbClr val="E0645A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109728"/>
            <a:ext cx="91440" cy="914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09728"/>
            <a:ext cx="91440" cy="91440"/>
          </a:xfrm>
          <a:prstGeom prst="ellipse">
            <a:avLst/>
          </a:prstGeom>
          <a:solidFill>
            <a:srgbClr val="5FB77E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54864"/>
            <a:ext cx="484632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3D9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0292"/>
            <a:ext cx="4846320" cy="18288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civil.iitm.ac.in/faculty/nbalaji/projects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292608"/>
            <a:ext cx="12191695" cy="585216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29260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BALAJI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NARASIMHAN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26718" y="402336"/>
            <a:ext cx="453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162556" y="402336"/>
            <a:ext cx="687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932481" y="402336"/>
            <a:ext cx="1272845" cy="365760"/>
          </a:xfrm>
          <a:prstGeom prst="roundRect">
            <a:avLst>
              <a:gd name="adj" fmla="val 15000"/>
            </a:avLst>
          </a:prstGeom>
          <a:solidFill>
            <a:srgbClr val="D99A2B"/>
          </a:solidFill>
          <a:ln/>
        </p:spPr>
      </p:sp>
      <p:sp>
        <p:nvSpPr>
          <p:cNvPr id="13" name="Text 11"/>
          <p:cNvSpPr/>
          <p:nvPr/>
        </p:nvSpPr>
        <p:spPr>
          <a:xfrm>
            <a:off x="2932481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Projects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4287622" y="402336"/>
            <a:ext cx="12143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Teaching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6997903" y="402336"/>
            <a:ext cx="86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7943393" y="402336"/>
            <a:ext cx="570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8596274" y="402336"/>
            <a:ext cx="9217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9600286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Achievements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10955426" y="402336"/>
            <a:ext cx="9802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our Team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029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Sponsored Projects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02920" y="14447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major sponsored research projects (full list in publications archive)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1920240"/>
            <a:ext cx="1120140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2002536"/>
            <a:ext cx="621792" cy="438912"/>
          </a:xfrm>
          <a:prstGeom prst="roundRect">
            <a:avLst>
              <a:gd name="adj" fmla="val 12500"/>
            </a:avLst>
          </a:prstGeom>
          <a:solidFill>
            <a:srgbClr val="0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002536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80160" y="19476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HydroTwin — Flood Resilience through Participatory Digital Twin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22311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DST, Govt. of India  ·  36 months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2606040"/>
            <a:ext cx="621792" cy="438912"/>
          </a:xfrm>
          <a:prstGeom prst="roundRect">
            <a:avLst>
              <a:gd name="adj" fmla="val 12500"/>
            </a:avLst>
          </a:prstGeom>
          <a:solidFill>
            <a:srgbClr val="0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260604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280160" y="255117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Web Enabled Hydrologic Modelling in SWAT (WEHMS) for India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80160" y="28346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NRSC, Hyderabad · National Hydrology Project  ·  36 months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127248"/>
            <a:ext cx="1120140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" y="3209544"/>
            <a:ext cx="621792" cy="438912"/>
          </a:xfrm>
          <a:prstGeom prst="roundRect">
            <a:avLst>
              <a:gd name="adj" fmla="val 12500"/>
            </a:avLst>
          </a:prstGeom>
          <a:solidFill>
            <a:srgbClr val="0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20954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280160" y="31546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impact on water resources: coastal Godavari &amp; Chennai basins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80160" y="343814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DST, Govt. of India  ·  5 years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" y="3813048"/>
            <a:ext cx="621792" cy="438912"/>
          </a:xfrm>
          <a:prstGeom prst="roundRect">
            <a:avLst>
              <a:gd name="adj" fmla="val 12500"/>
            </a:avLst>
          </a:prstGeom>
          <a:solidFill>
            <a:srgbClr val="0B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813048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280160" y="375818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impact on water availability, Tamiraparani River Basin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280160" y="4041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  ·  2 years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4334256"/>
            <a:ext cx="1120140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502920" y="4416552"/>
            <a:ext cx="621792" cy="438912"/>
          </a:xfrm>
          <a:prstGeom prst="roundRect">
            <a:avLst>
              <a:gd name="adj" fmla="val 12500"/>
            </a:avLst>
          </a:prstGeom>
          <a:solidFill>
            <a:srgbClr val="0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416552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280160" y="43616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 for flood forecasting &amp; management for Chennai city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280160" y="46451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the PSA, GoI (with IIT Bombay &amp; Anna University)  ·  18 months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" y="5020056"/>
            <a:ext cx="621792" cy="438912"/>
          </a:xfrm>
          <a:prstGeom prst="roundRect">
            <a:avLst>
              <a:gd name="adj" fmla="val 12500"/>
            </a:avLst>
          </a:prstGeom>
          <a:solidFill>
            <a:srgbClr val="0B2A4A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5020056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280160" y="49651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Near-Real-Time Hydrological Modelling System for India (SWAT ensembles)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280160" y="52486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NRSC, Hyderabad  ·  36 months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2920" y="5541264"/>
            <a:ext cx="1120140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502920" y="5623560"/>
            <a:ext cx="621792" cy="438912"/>
          </a:xfrm>
          <a:prstGeom prst="roundRect">
            <a:avLst>
              <a:gd name="adj" fmla="val 12500"/>
            </a:avLst>
          </a:prstGeom>
          <a:solidFill>
            <a:srgbClr val="0B2A4A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562356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280160" y="556869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Ganga River Basin Management Plan (GRBMP) — a Pan-IIT project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280160" y="58521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Environment &amp; Forests  ·  5 years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storyboard — Prof. Balaji Narasimhan, Dept. of Civil Engineering, IIT Madras   |   3 / 10</a:t>
            </a:r>
            <a:endParaRPr lang="en-US" sz="750" dirty="0"/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3A150923-D9CE-4843-8211-C7BE2F077E61}"/>
              </a:ext>
            </a:extLst>
          </p:cNvPr>
          <p:cNvSpPr/>
          <p:nvPr/>
        </p:nvSpPr>
        <p:spPr>
          <a:xfrm>
            <a:off x="5584241" y="402336"/>
            <a:ext cx="1331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9EDF1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09728"/>
            <a:ext cx="91440" cy="91440"/>
          </a:xfrm>
          <a:prstGeom prst="ellipse">
            <a:avLst/>
          </a:prstGeom>
          <a:solidFill>
            <a:srgbClr val="E0645A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109728"/>
            <a:ext cx="91440" cy="914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09728"/>
            <a:ext cx="91440" cy="91440"/>
          </a:xfrm>
          <a:prstGeom prst="ellipse">
            <a:avLst/>
          </a:prstGeom>
          <a:solidFill>
            <a:srgbClr val="5FB77E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54864"/>
            <a:ext cx="484632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3D9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0292"/>
            <a:ext cx="4846320" cy="18288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civil.iitm.ac.in/faculty/nbalaji/teaching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292608"/>
            <a:ext cx="12191695" cy="585216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29260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BALAJI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NARASIMHAN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26718" y="402336"/>
            <a:ext cx="453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162556" y="402336"/>
            <a:ext cx="687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2932481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Projects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4287622" y="402336"/>
            <a:ext cx="1214323" cy="365760"/>
          </a:xfrm>
          <a:prstGeom prst="roundRect">
            <a:avLst>
              <a:gd name="adj" fmla="val 15000"/>
            </a:avLst>
          </a:prstGeom>
          <a:solidFill>
            <a:srgbClr val="D99A2B"/>
          </a:solidFill>
          <a:ln/>
        </p:spPr>
      </p:sp>
      <p:sp>
        <p:nvSpPr>
          <p:cNvPr id="14" name="Text 12"/>
          <p:cNvSpPr/>
          <p:nvPr/>
        </p:nvSpPr>
        <p:spPr>
          <a:xfrm>
            <a:off x="4287622" y="402336"/>
            <a:ext cx="12143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Teaching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6997903" y="402336"/>
            <a:ext cx="86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7943393" y="402336"/>
            <a:ext cx="570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8596274" y="402336"/>
            <a:ext cx="9217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9600286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Achievements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10955426" y="402336"/>
            <a:ext cx="9802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our Team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029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Teaching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02920" y="14447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taught at IIT Madras, Department of Civil Engineering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19659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1965960"/>
            <a:ext cx="53492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1965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Courses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58952" y="273405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26517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CE2080 — Surveying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58952" y="323697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3154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CE2100 — Surveying Lab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8952" y="373989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3657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CE3030 — Water Resources Engineering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8952" y="424281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4160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CE4030 — Hydraulic &amp; Environmental Engineering Lab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58952" y="474573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46634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CE4420 — Introduction to GIS and Remote Sensing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58952" y="524865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" y="5166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CE4610 — Water Management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35040" y="19659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1965960"/>
            <a:ext cx="5349240" cy="50292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1965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Courses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291072" y="2734056"/>
            <a:ext cx="82296" cy="8229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26517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CE5080 — Geographical Information System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91072" y="3236976"/>
            <a:ext cx="82296" cy="8229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3154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CE5500 — Hydrosystems Computational Laboratory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291072" y="3739896"/>
            <a:ext cx="82296" cy="8229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46" name="Text 44"/>
          <p:cNvSpPr/>
          <p:nvPr/>
        </p:nvSpPr>
        <p:spPr>
          <a:xfrm>
            <a:off x="6492240" y="3657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CE5510 — Irrigation Technology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91072" y="4242816"/>
            <a:ext cx="82296" cy="8229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48" name="Text 46"/>
          <p:cNvSpPr/>
          <p:nvPr/>
        </p:nvSpPr>
        <p:spPr>
          <a:xfrm>
            <a:off x="6492240" y="4160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CE5960 — Remote Sensing of Earth Resources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291072" y="4745736"/>
            <a:ext cx="82296" cy="8229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50" name="Text 48"/>
          <p:cNvSpPr/>
          <p:nvPr/>
        </p:nvSpPr>
        <p:spPr>
          <a:xfrm>
            <a:off x="6492240" y="46634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CE5550 — Urban Hydrology &amp; Storm Drainage Design and Management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02920" y="6035040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D99A2B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faculty — Hydrology &amp; Hydraulic Design of Bridges, PG Diploma Program in Bridge Engineering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storyboard — Prof. Balaji Narasimhan, Dept. of Civil Engineering, IIT Madras   |   4 / 10</a:t>
            </a:r>
            <a:endParaRPr lang="en-US" sz="750" dirty="0"/>
          </a:p>
        </p:txBody>
      </p:sp>
      <p:sp>
        <p:nvSpPr>
          <p:cNvPr id="54" name="Text 13">
            <a:extLst>
              <a:ext uri="{FF2B5EF4-FFF2-40B4-BE49-F238E27FC236}">
                <a16:creationId xmlns:a16="http://schemas.microsoft.com/office/drawing/2014/main" id="{52990433-3938-437B-A449-AF949ED47F84}"/>
              </a:ext>
            </a:extLst>
          </p:cNvPr>
          <p:cNvSpPr/>
          <p:nvPr/>
        </p:nvSpPr>
        <p:spPr>
          <a:xfrm>
            <a:off x="5584241" y="402336"/>
            <a:ext cx="1331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9EDF1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09728"/>
            <a:ext cx="91440" cy="91440"/>
          </a:xfrm>
          <a:prstGeom prst="ellipse">
            <a:avLst/>
          </a:prstGeom>
          <a:solidFill>
            <a:srgbClr val="E0645A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109728"/>
            <a:ext cx="91440" cy="914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09728"/>
            <a:ext cx="91440" cy="91440"/>
          </a:xfrm>
          <a:prstGeom prst="ellipse">
            <a:avLst/>
          </a:prstGeom>
          <a:solidFill>
            <a:srgbClr val="5FB77E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54864"/>
            <a:ext cx="484632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3D9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0292"/>
            <a:ext cx="4846320" cy="18288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civil.iitm.ac.in/faculty/nbalaji/workshops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292608"/>
            <a:ext cx="12191695" cy="585216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29260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BALAJI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NARASIMHAN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26718" y="402336"/>
            <a:ext cx="453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162556" y="402336"/>
            <a:ext cx="687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2932481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Projects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287622" y="402336"/>
            <a:ext cx="12143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Teaching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5584241" y="402336"/>
            <a:ext cx="1331366" cy="365760"/>
          </a:xfrm>
          <a:prstGeom prst="roundRect">
            <a:avLst>
              <a:gd name="adj" fmla="val 15000"/>
            </a:avLst>
          </a:prstGeom>
          <a:solidFill>
            <a:srgbClr val="D99A2B"/>
          </a:solidFill>
          <a:ln/>
        </p:spPr>
      </p:sp>
      <p:sp>
        <p:nvSpPr>
          <p:cNvPr id="15" name="Text 13"/>
          <p:cNvSpPr/>
          <p:nvPr/>
        </p:nvSpPr>
        <p:spPr>
          <a:xfrm>
            <a:off x="5584241" y="402336"/>
            <a:ext cx="1331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6997903" y="402336"/>
            <a:ext cx="86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7943393" y="402336"/>
            <a:ext cx="570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8596274" y="402336"/>
            <a:ext cx="9217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9600286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Achievements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10955426" y="402336"/>
            <a:ext cx="9802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our Team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0292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 &amp; Training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02920" y="14447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training workshops conducted (20+ since 2006) — selected highlights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1920240"/>
            <a:ext cx="112014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1993392"/>
            <a:ext cx="86868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199339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08760" y="193852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SWAT and HUMID Training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08760" y="22219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NRSC, Hyderabad  ·  RRSC, Nagpur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2560320"/>
            <a:ext cx="86868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256032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08760" y="250545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SWAT and HUMID Training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08760" y="2788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NRSC, Hyderabad  ·  IIT Madras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054096"/>
            <a:ext cx="112014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" y="3127248"/>
            <a:ext cx="86868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12724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508760" y="30723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Two-Dimensional Flow Modelling using GIS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508760" y="33558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QIP Short-Term Training Programme  ·  IIT Madras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" y="3694176"/>
            <a:ext cx="86868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69417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08760" y="363931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Hydroinformatics for Integrated Water Resources Management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508760" y="39227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Initiative of Academic Networks (GIAN)  ·  IIT Madras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4187952"/>
            <a:ext cx="112014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502920" y="4261104"/>
            <a:ext cx="86868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26110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508760" y="420624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SWAT using Open Source Tools: QGIS &amp; QSWAT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508760" y="44897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QIP-STTP Programme  ·  IIT Madras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" y="4828032"/>
            <a:ext cx="86868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48280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508760" y="477316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SWAT Workshop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508760" y="50566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SWAT-Asia IV Conference  ·  Tsukuba, Japan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2920" y="5321808"/>
            <a:ext cx="112014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502920" y="5394960"/>
            <a:ext cx="86868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539496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2013–14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508760" y="534009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&amp; Advanced SWAT Workshops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508760" y="56235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Dr. R. Srinivasan, Texas A&amp;M University  ·  IIT Madras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920" y="6025896"/>
            <a:ext cx="11201400" cy="502920"/>
          </a:xfrm>
          <a:prstGeom prst="roundRect">
            <a:avLst>
              <a:gd name="adj" fmla="val 10909"/>
            </a:avLst>
          </a:prstGeom>
          <a:solidFill>
            <a:srgbClr val="D99A2B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" y="602589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advanced workshops conducted since 2006  ·  Partners: NRSC–ISRO, Texas A&amp;M University, AICTE, DST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storyboard — Prof. Balaji Narasimhan, Dept. of Civil Engineering, IIT Madras   |   5 / 10</a:t>
            </a:r>
            <a:endParaRPr lang="en-US" sz="750" dirty="0"/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2D1D4DAD-A58C-4971-99EB-BDD5F4DA2DE6}"/>
              </a:ext>
            </a:extLst>
          </p:cNvPr>
          <p:cNvSpPr/>
          <p:nvPr/>
        </p:nvSpPr>
        <p:spPr>
          <a:xfrm>
            <a:off x="5547197" y="404179"/>
            <a:ext cx="1331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9EDF1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09728"/>
            <a:ext cx="91440" cy="91440"/>
          </a:xfrm>
          <a:prstGeom prst="ellipse">
            <a:avLst/>
          </a:prstGeom>
          <a:solidFill>
            <a:srgbClr val="E0645A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109728"/>
            <a:ext cx="91440" cy="914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09728"/>
            <a:ext cx="91440" cy="91440"/>
          </a:xfrm>
          <a:prstGeom prst="ellipse">
            <a:avLst/>
          </a:prstGeom>
          <a:solidFill>
            <a:srgbClr val="5FB77E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54864"/>
            <a:ext cx="484632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3D9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0292"/>
            <a:ext cx="4846320" cy="18288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civil.iitm.ac.in/faculty/nbalaji/consultancy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292608"/>
            <a:ext cx="12191695" cy="585216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29260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BALAJI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NARASIMHAN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26718" y="402336"/>
            <a:ext cx="453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162556" y="402336"/>
            <a:ext cx="687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2932481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Projects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287622" y="402336"/>
            <a:ext cx="12143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Teaching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6997903" y="402336"/>
            <a:ext cx="863194" cy="365760"/>
          </a:xfrm>
          <a:prstGeom prst="roundRect">
            <a:avLst>
              <a:gd name="adj" fmla="val 15000"/>
            </a:avLst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6997903" y="402336"/>
            <a:ext cx="86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7943393" y="402336"/>
            <a:ext cx="570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8596274" y="402336"/>
            <a:ext cx="9217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9600286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Achievements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10955426" y="402336"/>
            <a:ext cx="9802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our Team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029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Consultancy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02920" y="14447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focus areas for consultancy &amp; advisory engagements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19659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2148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Water Drain Design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77240" y="27432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Vetting &amp; design of storm-water drainage systems — including major airport projects (Delhi, Vizag) for L&amp;T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19659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2194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86600" y="2148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Flood Forecasting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446520" y="27432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Supervisory Consultant — Spatial Decision Support System for Chennai Basins, World Bank / TNUIFSL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37947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17320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 Development Design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77240" y="45720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SuDS-based design projects for sustainable urban drainage and flood mitigation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37947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86600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Safety Projects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446520" y="45720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Hydrological &amp; structural safety assessments for dams and reservoirs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5623560"/>
            <a:ext cx="12191695" cy="960120"/>
          </a:xfrm>
          <a:prstGeom prst="rect">
            <a:avLst/>
          </a:prstGeom>
          <a:solidFill>
            <a:srgbClr val="081D33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5687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clients &amp; partners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Larsen &amp; Toubro (L&amp;T)   ·   TNUIFSL / World Bank   ·   Govt. of Kerala Irrigation Dept.   ·   Tata Consulting Services   ·   RITES Ltd.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storyboard — Prof. Balaji Narasimhan, Dept. of Civil Engineering, IIT Madras   |   6 / 10</a:t>
            </a:r>
            <a:endParaRPr lang="en-US" sz="75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F7BCB358-922F-4A06-A1AD-DC4FCFAD3A11}"/>
              </a:ext>
            </a:extLst>
          </p:cNvPr>
          <p:cNvSpPr/>
          <p:nvPr/>
        </p:nvSpPr>
        <p:spPr>
          <a:xfrm>
            <a:off x="5584241" y="402336"/>
            <a:ext cx="1331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9EDF1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09728"/>
            <a:ext cx="91440" cy="91440"/>
          </a:xfrm>
          <a:prstGeom prst="ellipse">
            <a:avLst/>
          </a:prstGeom>
          <a:solidFill>
            <a:srgbClr val="E0645A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109728"/>
            <a:ext cx="91440" cy="914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09728"/>
            <a:ext cx="91440" cy="91440"/>
          </a:xfrm>
          <a:prstGeom prst="ellipse">
            <a:avLst/>
          </a:prstGeom>
          <a:solidFill>
            <a:srgbClr val="5FB77E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54864"/>
            <a:ext cx="484632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3D9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0292"/>
            <a:ext cx="4846320" cy="18288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civil.iitm.ac.in/faculty/nbalaji/people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292608"/>
            <a:ext cx="12191695" cy="585216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29260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BALAJI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NARASIMHAN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26718" y="402336"/>
            <a:ext cx="453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162556" y="402336"/>
            <a:ext cx="687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2932481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Projects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287622" y="402336"/>
            <a:ext cx="12143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Teaching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6997903" y="402336"/>
            <a:ext cx="86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7943393" y="402336"/>
            <a:ext cx="570586" cy="365760"/>
          </a:xfrm>
          <a:prstGeom prst="roundRect">
            <a:avLst>
              <a:gd name="adj" fmla="val 15000"/>
            </a:avLst>
          </a:prstGeom>
          <a:solidFill>
            <a:srgbClr val="D99A2B"/>
          </a:solidFill>
          <a:ln/>
        </p:spPr>
      </p:sp>
      <p:sp>
        <p:nvSpPr>
          <p:cNvPr id="17" name="Text 15"/>
          <p:cNvSpPr/>
          <p:nvPr/>
        </p:nvSpPr>
        <p:spPr>
          <a:xfrm>
            <a:off x="7943393" y="402336"/>
            <a:ext cx="570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8596274" y="402336"/>
            <a:ext cx="9217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9600286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Achievements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10955426" y="402336"/>
            <a:ext cx="9802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our Team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02920" y="960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02920" y="1371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lab members and alumni of the Environmental &amp; Water Resources Engineering Laboratory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1810512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1810512"/>
            <a:ext cx="352044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18105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PhD Students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22376" y="2624328"/>
            <a:ext cx="402336" cy="402336"/>
          </a:xfrm>
          <a:prstGeom prst="ellipse">
            <a:avLst/>
          </a:prstGeom>
          <a:solidFill>
            <a:srgbClr val="E5F1F5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7100" y="2684678"/>
            <a:ext cx="152888" cy="1528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786750" y="2833543"/>
            <a:ext cx="27358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1234440" y="2514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Subrahmanian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234440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 modules in SWAT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22376" y="3429000"/>
            <a:ext cx="402336" cy="402336"/>
          </a:xfrm>
          <a:prstGeom prst="ellipse">
            <a:avLst/>
          </a:prstGeom>
          <a:solidFill>
            <a:srgbClr val="E5F1F5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7100" y="3489350"/>
            <a:ext cx="152888" cy="1528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786750" y="3638215"/>
            <a:ext cx="27358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1234440" y="33192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A.R. Sankarbalaji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234440" y="35935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process modelling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22376" y="4233672"/>
            <a:ext cx="402336" cy="402336"/>
          </a:xfrm>
          <a:prstGeom prst="ellipse">
            <a:avLst/>
          </a:prstGeom>
          <a:solidFill>
            <a:srgbClr val="E5F1F5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7100" y="4294022"/>
            <a:ext cx="152888" cy="1528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Shape 36"/>
          <p:cNvSpPr/>
          <p:nvPr/>
        </p:nvSpPr>
        <p:spPr>
          <a:xfrm>
            <a:off x="786750" y="4442887"/>
            <a:ext cx="27358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1234440" y="41239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Duraisekaran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234440" y="439826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– SDSS operationalisation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2376" y="5038344"/>
            <a:ext cx="402336" cy="402336"/>
          </a:xfrm>
          <a:prstGeom prst="ellipse">
            <a:avLst/>
          </a:prstGeom>
          <a:solidFill>
            <a:srgbClr val="E5F1F5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7100" y="5098694"/>
            <a:ext cx="152888" cy="1528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3" name="Shape 41"/>
          <p:cNvSpPr/>
          <p:nvPr/>
        </p:nvSpPr>
        <p:spPr>
          <a:xfrm>
            <a:off x="786750" y="5247559"/>
            <a:ext cx="27358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49286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S.M. Kirthiga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234440" y="520293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weather forecasting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224528" y="1810512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24528" y="1810512"/>
            <a:ext cx="3520440" cy="457200"/>
          </a:xfrm>
          <a:prstGeom prst="rect">
            <a:avLst/>
          </a:prstGeom>
          <a:solidFill>
            <a:srgbClr val="8A5E10"/>
          </a:solidFill>
          <a:ln/>
        </p:spPr>
      </p:sp>
      <p:sp>
        <p:nvSpPr>
          <p:cNvPr id="48" name="Text 46"/>
          <p:cNvSpPr/>
          <p:nvPr/>
        </p:nvSpPr>
        <p:spPr>
          <a:xfrm>
            <a:off x="4407408" y="18105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Project Staff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4443984" y="2624328"/>
            <a:ext cx="402336" cy="402336"/>
          </a:xfrm>
          <a:prstGeom prst="ellipse">
            <a:avLst/>
          </a:prstGeom>
          <a:solidFill>
            <a:srgbClr val="E5F1F5"/>
          </a:solidFill>
          <a:ln w="9525">
            <a:solidFill>
              <a:srgbClr val="8A5E1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68708" y="2684678"/>
            <a:ext cx="152888" cy="152888"/>
          </a:xfrm>
          <a:prstGeom prst="ellipse">
            <a:avLst/>
          </a:prstGeom>
          <a:solidFill>
            <a:srgbClr val="8A5E10"/>
          </a:solidFill>
          <a:ln/>
        </p:spPr>
      </p:sp>
      <p:sp>
        <p:nvSpPr>
          <p:cNvPr id="51" name="Shape 49"/>
          <p:cNvSpPr/>
          <p:nvPr/>
        </p:nvSpPr>
        <p:spPr>
          <a:xfrm>
            <a:off x="4508358" y="2833543"/>
            <a:ext cx="273588" cy="201168"/>
          </a:xfrm>
          <a:prstGeom prst="ellipse">
            <a:avLst/>
          </a:prstGeom>
          <a:solidFill>
            <a:srgbClr val="8A5E10"/>
          </a:solidFill>
          <a:ln/>
        </p:spPr>
      </p:sp>
      <p:sp>
        <p:nvSpPr>
          <p:cNvPr id="52" name="Text 50"/>
          <p:cNvSpPr/>
          <p:nvPr/>
        </p:nvSpPr>
        <p:spPr>
          <a:xfrm>
            <a:off x="4956048" y="2514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Associate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956048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 web platform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443984" y="3429000"/>
            <a:ext cx="402336" cy="402336"/>
          </a:xfrm>
          <a:prstGeom prst="ellipse">
            <a:avLst/>
          </a:prstGeom>
          <a:solidFill>
            <a:srgbClr val="E5F1F5"/>
          </a:solidFill>
          <a:ln w="9525">
            <a:solidFill>
              <a:srgbClr val="8A5E1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68708" y="3489350"/>
            <a:ext cx="152888" cy="152888"/>
          </a:xfrm>
          <a:prstGeom prst="ellipse">
            <a:avLst/>
          </a:prstGeom>
          <a:solidFill>
            <a:srgbClr val="8A5E10"/>
          </a:solidFill>
          <a:ln/>
        </p:spPr>
      </p:sp>
      <p:sp>
        <p:nvSpPr>
          <p:cNvPr id="56" name="Shape 54"/>
          <p:cNvSpPr/>
          <p:nvPr/>
        </p:nvSpPr>
        <p:spPr>
          <a:xfrm>
            <a:off x="4508358" y="3638215"/>
            <a:ext cx="273588" cy="201168"/>
          </a:xfrm>
          <a:prstGeom prst="ellipse">
            <a:avLst/>
          </a:prstGeom>
          <a:solidFill>
            <a:srgbClr val="8A5E10"/>
          </a:solidFill>
          <a:ln/>
        </p:spPr>
      </p:sp>
      <p:sp>
        <p:nvSpPr>
          <p:cNvPr id="57" name="Text 55"/>
          <p:cNvSpPr/>
          <p:nvPr/>
        </p:nvSpPr>
        <p:spPr>
          <a:xfrm>
            <a:off x="4956048" y="33192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Associate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956048" y="35935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RTFF system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443984" y="4233672"/>
            <a:ext cx="402336" cy="402336"/>
          </a:xfrm>
          <a:prstGeom prst="ellipse">
            <a:avLst/>
          </a:prstGeom>
          <a:solidFill>
            <a:srgbClr val="E5F1F5"/>
          </a:solidFill>
          <a:ln w="9525">
            <a:solidFill>
              <a:srgbClr val="8A5E1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68708" y="4294022"/>
            <a:ext cx="152888" cy="152888"/>
          </a:xfrm>
          <a:prstGeom prst="ellipse">
            <a:avLst/>
          </a:prstGeom>
          <a:solidFill>
            <a:srgbClr val="8A5E10"/>
          </a:solidFill>
          <a:ln/>
        </p:spPr>
      </p:sp>
      <p:sp>
        <p:nvSpPr>
          <p:cNvPr id="61" name="Shape 59"/>
          <p:cNvSpPr/>
          <p:nvPr/>
        </p:nvSpPr>
        <p:spPr>
          <a:xfrm>
            <a:off x="4508358" y="4442887"/>
            <a:ext cx="273588" cy="201168"/>
          </a:xfrm>
          <a:prstGeom prst="ellipse">
            <a:avLst/>
          </a:prstGeom>
          <a:solidFill>
            <a:srgbClr val="8A5E10"/>
          </a:solidFill>
          <a:ln/>
        </p:spPr>
      </p:sp>
      <p:sp>
        <p:nvSpPr>
          <p:cNvPr id="62" name="Text 60"/>
          <p:cNvSpPr/>
          <p:nvPr/>
        </p:nvSpPr>
        <p:spPr>
          <a:xfrm>
            <a:off x="4956048" y="41239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Associate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956048" y="439826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digital twin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443984" y="5038344"/>
            <a:ext cx="402336" cy="402336"/>
          </a:xfrm>
          <a:prstGeom prst="ellipse">
            <a:avLst/>
          </a:prstGeom>
          <a:solidFill>
            <a:srgbClr val="E5F1F5"/>
          </a:solidFill>
          <a:ln w="9525">
            <a:solidFill>
              <a:srgbClr val="8A5E1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68708" y="5098694"/>
            <a:ext cx="152888" cy="152888"/>
          </a:xfrm>
          <a:prstGeom prst="ellipse">
            <a:avLst/>
          </a:prstGeom>
          <a:solidFill>
            <a:srgbClr val="8A5E10"/>
          </a:solidFill>
          <a:ln/>
        </p:spPr>
      </p:sp>
      <p:sp>
        <p:nvSpPr>
          <p:cNvPr id="66" name="Shape 64"/>
          <p:cNvSpPr/>
          <p:nvPr/>
        </p:nvSpPr>
        <p:spPr>
          <a:xfrm>
            <a:off x="4508358" y="5247559"/>
            <a:ext cx="273588" cy="201168"/>
          </a:xfrm>
          <a:prstGeom prst="ellipse">
            <a:avLst/>
          </a:prstGeom>
          <a:solidFill>
            <a:srgbClr val="8A5E10"/>
          </a:solidFill>
          <a:ln/>
        </p:spPr>
      </p:sp>
      <p:sp>
        <p:nvSpPr>
          <p:cNvPr id="67" name="Text 65"/>
          <p:cNvSpPr/>
          <p:nvPr/>
        </p:nvSpPr>
        <p:spPr>
          <a:xfrm>
            <a:off x="4956048" y="49286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/ Remote Sensing Analyst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956048" y="520293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946136" y="1810512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46136" y="1810512"/>
            <a:ext cx="3566160" cy="457200"/>
          </a:xfrm>
          <a:prstGeom prst="rect">
            <a:avLst/>
          </a:prstGeom>
          <a:solidFill>
            <a:srgbClr val="3C7A5A"/>
          </a:solidFill>
          <a:ln/>
        </p:spPr>
      </p:sp>
      <p:sp>
        <p:nvSpPr>
          <p:cNvPr id="71" name="Text 69"/>
          <p:cNvSpPr/>
          <p:nvPr/>
        </p:nvSpPr>
        <p:spPr>
          <a:xfrm>
            <a:off x="8129016" y="18105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— Where They Are Now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8165592" y="2624328"/>
            <a:ext cx="402336" cy="402336"/>
          </a:xfrm>
          <a:prstGeom prst="ellipse">
            <a:avLst/>
          </a:prstGeom>
          <a:solidFill>
            <a:srgbClr val="E5F1F5"/>
          </a:solidFill>
          <a:ln w="9525">
            <a:solidFill>
              <a:srgbClr val="3C7A5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290316" y="2684678"/>
            <a:ext cx="152888" cy="152888"/>
          </a:xfrm>
          <a:prstGeom prst="ellipse">
            <a:avLst/>
          </a:prstGeom>
          <a:solidFill>
            <a:srgbClr val="3C7A5A"/>
          </a:solidFill>
          <a:ln/>
        </p:spPr>
      </p:sp>
      <p:sp>
        <p:nvSpPr>
          <p:cNvPr id="74" name="Shape 72"/>
          <p:cNvSpPr/>
          <p:nvPr/>
        </p:nvSpPr>
        <p:spPr>
          <a:xfrm>
            <a:off x="8229966" y="2833543"/>
            <a:ext cx="273588" cy="201168"/>
          </a:xfrm>
          <a:prstGeom prst="ellipse">
            <a:avLst/>
          </a:prstGeom>
          <a:solidFill>
            <a:srgbClr val="3C7A5A"/>
          </a:solidFill>
          <a:ln/>
        </p:spPr>
      </p:sp>
      <p:sp>
        <p:nvSpPr>
          <p:cNvPr id="75" name="Text 73"/>
          <p:cNvSpPr/>
          <p:nvPr/>
        </p:nvSpPr>
        <p:spPr>
          <a:xfrm>
            <a:off x="8677656" y="2514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V.M. Bindhu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8677656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Faculty, Remote Sensing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165592" y="3429000"/>
            <a:ext cx="402336" cy="402336"/>
          </a:xfrm>
          <a:prstGeom prst="ellipse">
            <a:avLst/>
          </a:prstGeom>
          <a:solidFill>
            <a:srgbClr val="E5F1F5"/>
          </a:solidFill>
          <a:ln w="9525">
            <a:solidFill>
              <a:srgbClr val="3C7A5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90316" y="3489350"/>
            <a:ext cx="152888" cy="152888"/>
          </a:xfrm>
          <a:prstGeom prst="ellipse">
            <a:avLst/>
          </a:prstGeom>
          <a:solidFill>
            <a:srgbClr val="3C7A5A"/>
          </a:solidFill>
          <a:ln/>
        </p:spPr>
      </p:sp>
      <p:sp>
        <p:nvSpPr>
          <p:cNvPr id="79" name="Shape 77"/>
          <p:cNvSpPr/>
          <p:nvPr/>
        </p:nvSpPr>
        <p:spPr>
          <a:xfrm>
            <a:off x="8229966" y="3638215"/>
            <a:ext cx="273588" cy="201168"/>
          </a:xfrm>
          <a:prstGeom prst="ellipse">
            <a:avLst/>
          </a:prstGeom>
          <a:solidFill>
            <a:srgbClr val="3C7A5A"/>
          </a:solidFill>
          <a:ln/>
        </p:spPr>
      </p:sp>
      <p:sp>
        <p:nvSpPr>
          <p:cNvPr id="80" name="Text 78"/>
          <p:cNvSpPr/>
          <p:nvPr/>
        </p:nvSpPr>
        <p:spPr>
          <a:xfrm>
            <a:off x="8677656" y="3319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P.S. Smitha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8677656" y="3593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resources researcher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165592" y="4233672"/>
            <a:ext cx="402336" cy="402336"/>
          </a:xfrm>
          <a:prstGeom prst="ellipse">
            <a:avLst/>
          </a:prstGeom>
          <a:solidFill>
            <a:srgbClr val="E5F1F5"/>
          </a:solidFill>
          <a:ln w="9525">
            <a:solidFill>
              <a:srgbClr val="3C7A5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290316" y="4294022"/>
            <a:ext cx="152888" cy="152888"/>
          </a:xfrm>
          <a:prstGeom prst="ellipse">
            <a:avLst/>
          </a:prstGeom>
          <a:solidFill>
            <a:srgbClr val="3C7A5A"/>
          </a:solidFill>
          <a:ln/>
        </p:spPr>
      </p:sp>
      <p:sp>
        <p:nvSpPr>
          <p:cNvPr id="84" name="Shape 82"/>
          <p:cNvSpPr/>
          <p:nvPr/>
        </p:nvSpPr>
        <p:spPr>
          <a:xfrm>
            <a:off x="8229966" y="4442887"/>
            <a:ext cx="273588" cy="201168"/>
          </a:xfrm>
          <a:prstGeom prst="ellipse">
            <a:avLst/>
          </a:prstGeom>
          <a:solidFill>
            <a:srgbClr val="3C7A5A"/>
          </a:solidFill>
          <a:ln/>
        </p:spPr>
      </p:sp>
      <p:sp>
        <p:nvSpPr>
          <p:cNvPr id="85" name="Text 83"/>
          <p:cNvSpPr/>
          <p:nvPr/>
        </p:nvSpPr>
        <p:spPr>
          <a:xfrm>
            <a:off x="8677656" y="41239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K. Sangeetha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8677656" y="43982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modelling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165592" y="5038344"/>
            <a:ext cx="402336" cy="402336"/>
          </a:xfrm>
          <a:prstGeom prst="ellipse">
            <a:avLst/>
          </a:prstGeom>
          <a:solidFill>
            <a:srgbClr val="E5F1F5"/>
          </a:solidFill>
          <a:ln w="9525">
            <a:solidFill>
              <a:srgbClr val="3C7A5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90316" y="5098694"/>
            <a:ext cx="152888" cy="152888"/>
          </a:xfrm>
          <a:prstGeom prst="ellipse">
            <a:avLst/>
          </a:prstGeom>
          <a:solidFill>
            <a:srgbClr val="3C7A5A"/>
          </a:solidFill>
          <a:ln/>
        </p:spPr>
      </p:sp>
      <p:sp>
        <p:nvSpPr>
          <p:cNvPr id="89" name="Shape 87"/>
          <p:cNvSpPr/>
          <p:nvPr/>
        </p:nvSpPr>
        <p:spPr>
          <a:xfrm>
            <a:off x="8229966" y="5247559"/>
            <a:ext cx="273588" cy="201168"/>
          </a:xfrm>
          <a:prstGeom prst="ellipse">
            <a:avLst/>
          </a:prstGeom>
          <a:solidFill>
            <a:srgbClr val="3C7A5A"/>
          </a:solidFill>
          <a:ln/>
        </p:spPr>
      </p:sp>
      <p:sp>
        <p:nvSpPr>
          <p:cNvPr id="90" name="Text 88"/>
          <p:cNvSpPr/>
          <p:nvPr/>
        </p:nvSpPr>
        <p:spPr>
          <a:xfrm>
            <a:off x="8677656" y="4928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N. Joseph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8677656" y="52029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flows specialist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8165592" y="5843016"/>
            <a:ext cx="402336" cy="402336"/>
          </a:xfrm>
          <a:prstGeom prst="ellipse">
            <a:avLst/>
          </a:prstGeom>
          <a:solidFill>
            <a:srgbClr val="E5F1F5"/>
          </a:solidFill>
          <a:ln w="9525">
            <a:solidFill>
              <a:srgbClr val="3C7A5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290316" y="5903366"/>
            <a:ext cx="152888" cy="152888"/>
          </a:xfrm>
          <a:prstGeom prst="ellipse">
            <a:avLst/>
          </a:prstGeom>
          <a:solidFill>
            <a:srgbClr val="3C7A5A"/>
          </a:solidFill>
          <a:ln/>
        </p:spPr>
      </p:sp>
      <p:sp>
        <p:nvSpPr>
          <p:cNvPr id="94" name="Shape 92"/>
          <p:cNvSpPr/>
          <p:nvPr/>
        </p:nvSpPr>
        <p:spPr>
          <a:xfrm>
            <a:off x="8229966" y="6052231"/>
            <a:ext cx="273588" cy="201168"/>
          </a:xfrm>
          <a:prstGeom prst="ellipse">
            <a:avLst/>
          </a:prstGeom>
          <a:solidFill>
            <a:srgbClr val="3C7A5A"/>
          </a:solidFill>
          <a:ln/>
        </p:spPr>
      </p:sp>
      <p:sp>
        <p:nvSpPr>
          <p:cNvPr id="95" name="Text 93"/>
          <p:cNvSpPr/>
          <p:nvPr/>
        </p:nvSpPr>
        <p:spPr>
          <a:xfrm>
            <a:off x="8677656" y="57332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B. Palanisamy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8677656" y="60076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drainage &amp; LID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502920" y="63367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placeholders shown — replace with actual profile photos when populating the live site.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storyboard — Prof. Balaji Narasimhan, Dept. of Civil Engineering, IIT Madras   |   7 / 10</a:t>
            </a:r>
            <a:endParaRPr lang="en-US" sz="750" dirty="0"/>
          </a:p>
        </p:txBody>
      </p:sp>
      <p:sp>
        <p:nvSpPr>
          <p:cNvPr id="99" name="Text 13">
            <a:extLst>
              <a:ext uri="{FF2B5EF4-FFF2-40B4-BE49-F238E27FC236}">
                <a16:creationId xmlns:a16="http://schemas.microsoft.com/office/drawing/2014/main" id="{95E9438D-1A09-49D3-AFBA-85475430DF62}"/>
              </a:ext>
            </a:extLst>
          </p:cNvPr>
          <p:cNvSpPr/>
          <p:nvPr/>
        </p:nvSpPr>
        <p:spPr>
          <a:xfrm>
            <a:off x="5584241" y="402336"/>
            <a:ext cx="1331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8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9EDF1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09728"/>
            <a:ext cx="91440" cy="91440"/>
          </a:xfrm>
          <a:prstGeom prst="ellipse">
            <a:avLst/>
          </a:prstGeom>
          <a:solidFill>
            <a:srgbClr val="E0645A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109728"/>
            <a:ext cx="91440" cy="914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09728"/>
            <a:ext cx="91440" cy="91440"/>
          </a:xfrm>
          <a:prstGeom prst="ellipse">
            <a:avLst/>
          </a:prstGeom>
          <a:solidFill>
            <a:srgbClr val="5FB77E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54864"/>
            <a:ext cx="484632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3D9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0292"/>
            <a:ext cx="4846320" cy="18288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civil.iitm.ac.in/faculty/nbalaji/publications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292608"/>
            <a:ext cx="12191695" cy="585216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29260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BALAJI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NARASIMHAN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26718" y="402336"/>
            <a:ext cx="453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162556" y="402336"/>
            <a:ext cx="687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2932481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Projects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287622" y="402336"/>
            <a:ext cx="12143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Teaching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6997903" y="402336"/>
            <a:ext cx="86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7943393" y="402336"/>
            <a:ext cx="570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8596274" y="402336"/>
            <a:ext cx="921715" cy="365760"/>
          </a:xfrm>
          <a:prstGeom prst="roundRect">
            <a:avLst>
              <a:gd name="adj" fmla="val 15000"/>
            </a:avLst>
          </a:prstGeom>
          <a:solidFill>
            <a:srgbClr val="D99A2B"/>
          </a:solidFill>
          <a:ln/>
        </p:spPr>
      </p:sp>
      <p:sp>
        <p:nvSpPr>
          <p:cNvPr id="18" name="Text 16"/>
          <p:cNvSpPr/>
          <p:nvPr/>
        </p:nvSpPr>
        <p:spPr>
          <a:xfrm>
            <a:off x="8596274" y="402336"/>
            <a:ext cx="9217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9600286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Achievements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10955426" y="402336"/>
            <a:ext cx="9802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our Team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02920" y="960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02920" y="13898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refereed journal publications — cross-checked against Google Scholar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1783080"/>
            <a:ext cx="2670048" cy="868680"/>
          </a:xfrm>
          <a:prstGeom prst="roundRect">
            <a:avLst>
              <a:gd name="adj" fmla="val 8421"/>
            </a:avLst>
          </a:prstGeom>
          <a:solidFill>
            <a:srgbClr val="E5F1F5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178308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57+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645920" y="1783080"/>
            <a:ext cx="1435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7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Publications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3337560" y="1783080"/>
            <a:ext cx="2670048" cy="868680"/>
          </a:xfrm>
          <a:prstGeom prst="roundRect">
            <a:avLst>
              <a:gd name="adj" fmla="val 8421"/>
            </a:avLst>
          </a:prstGeom>
          <a:solidFill>
            <a:srgbClr val="E5F1F5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178308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4,000+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480560" y="1783080"/>
            <a:ext cx="1435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7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 Citations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6172200" y="1783080"/>
            <a:ext cx="2670048" cy="868680"/>
          </a:xfrm>
          <a:prstGeom prst="roundRect">
            <a:avLst>
              <a:gd name="adj" fmla="val 8421"/>
            </a:avLst>
          </a:prstGeom>
          <a:solidFill>
            <a:srgbClr val="E5F1F5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78308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2005–26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7315200" y="1783080"/>
            <a:ext cx="1435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7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Publication Span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9006840" y="1783080"/>
            <a:ext cx="2670048" cy="868680"/>
          </a:xfrm>
          <a:prstGeom prst="roundRect">
            <a:avLst>
              <a:gd name="adj" fmla="val 8421"/>
            </a:avLst>
          </a:prstGeom>
          <a:solidFill>
            <a:srgbClr val="E5F1F5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8280" y="178308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10149840" y="1783080"/>
            <a:ext cx="1435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7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in 2025–26 alone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502920" y="2651760"/>
            <a:ext cx="11201400" cy="5989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" y="2752344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0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275234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17320" y="2670048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approach to integrate Low Impact Development (LID) modules into the SWAT model to facilitate sustainable urban drainage planning at river basin scales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417320" y="3054096"/>
            <a:ext cx="8366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Subrahmanian, S., Sankarbalaji, A.R., Duraisekaran, E., Bhallamudi, S.M., Narasimhan, B.  ·  Water Resources Management, 40(1), 17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" y="3351276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0B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3512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417320" y="3268980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of increasing hydrologic model complexity in the representation of small and medium reservoirs within a river basin scale model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417320" y="3653028"/>
            <a:ext cx="8366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Sankarbalaji, A.R., Duraisekaran, E., Sangeetha, K., Modi, K., Narasimhan, B.  ·  Journal of Hydrology, 655, 132925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02920" y="3849624"/>
            <a:ext cx="11201400" cy="5989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502920" y="3950208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0B2A4A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395020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417320" y="3867912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irrigation water productivity using short-range ensemble weather forecasts at basin scale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417320" y="4251960"/>
            <a:ext cx="8366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Kirthiga, S.M., Narasimhan, B., Balaji, C.  ·  Journal of Hydrology, 639, 131610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02920" y="4549140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0B2A4A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454914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417320" y="4466844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and operationalization of the real-time flood forecasting – spatial decision support system for Chennai, India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417320" y="4850892"/>
            <a:ext cx="8366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Anbarasu Selvaraj, A. et al. (22 authors incl. Narasimhan, B.)  ·  Current Science, 127(1), 23–27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02920" y="5047488"/>
            <a:ext cx="11201400" cy="5989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502920" y="5148072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0B2A4A"/>
          </a:solidFill>
          <a:ln/>
        </p:spPr>
      </p:sp>
      <p:sp>
        <p:nvSpPr>
          <p:cNvPr id="55" name="Text 53"/>
          <p:cNvSpPr/>
          <p:nvPr/>
        </p:nvSpPr>
        <p:spPr>
          <a:xfrm>
            <a:off x="502920" y="514807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417320" y="5065776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testing of a physically based stream bank erosion model for coupling with a basin scale hydrologic model SWAT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417320" y="5449824"/>
            <a:ext cx="8366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Narasimhan, B., Allen, P.M., Capello, S.V., Arnold, J.G., Srinivasan, R.  ·  JAWRA, 53(2), 344–364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02920" y="5747004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0B2A4A"/>
          </a:solidFill>
          <a:ln/>
        </p:spPr>
      </p:sp>
      <p:sp>
        <p:nvSpPr>
          <p:cNvPr id="59" name="Text 57"/>
          <p:cNvSpPr/>
          <p:nvPr/>
        </p:nvSpPr>
        <p:spPr>
          <a:xfrm>
            <a:off x="502920" y="57470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417320" y="5664708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evaluation of Soil Moisture Deficit Index (SMDI) and Evapotranspiration Deficit Index (ETDI) for agricultural drought monitoring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417320" y="6048756"/>
            <a:ext cx="8366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Narasimhan, B. &amp; Srinivasan, R.  ·  Agricultural and Forest Meteorology, 133, 69–88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921240" y="584758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63" name="Text 61"/>
          <p:cNvSpPr/>
          <p:nvPr/>
        </p:nvSpPr>
        <p:spPr>
          <a:xfrm>
            <a:off x="9921240" y="58475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paper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02920" y="627278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publication list available on the Google Scholar profile and departmental website.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storyboard — Prof. Balaji Narasimhan, Dept. of Civil Engineering, IIT Madras   |   8 / 10</a:t>
            </a:r>
            <a:endParaRPr lang="en-US" sz="750" dirty="0"/>
          </a:p>
        </p:txBody>
      </p:sp>
      <p:sp>
        <p:nvSpPr>
          <p:cNvPr id="66" name="Text 13">
            <a:extLst>
              <a:ext uri="{FF2B5EF4-FFF2-40B4-BE49-F238E27FC236}">
                <a16:creationId xmlns:a16="http://schemas.microsoft.com/office/drawing/2014/main" id="{78295DBF-B444-4CCE-8B75-F072A403E679}"/>
              </a:ext>
            </a:extLst>
          </p:cNvPr>
          <p:cNvSpPr/>
          <p:nvPr/>
        </p:nvSpPr>
        <p:spPr>
          <a:xfrm>
            <a:off x="5584241" y="402336"/>
            <a:ext cx="1331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8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9EDF1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09728"/>
            <a:ext cx="91440" cy="91440"/>
          </a:xfrm>
          <a:prstGeom prst="ellipse">
            <a:avLst/>
          </a:prstGeom>
          <a:solidFill>
            <a:srgbClr val="E0645A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109728"/>
            <a:ext cx="91440" cy="914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09728"/>
            <a:ext cx="91440" cy="91440"/>
          </a:xfrm>
          <a:prstGeom prst="ellipse">
            <a:avLst/>
          </a:prstGeom>
          <a:solidFill>
            <a:srgbClr val="5FB77E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54864"/>
            <a:ext cx="484632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3D9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0292"/>
            <a:ext cx="4846320" cy="18288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civil.iitm.ac.in/faculty/nbalaji/achievements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292608"/>
            <a:ext cx="12191695" cy="585216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29260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BALAJI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NARASIMHAN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26718" y="402336"/>
            <a:ext cx="453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162556" y="402336"/>
            <a:ext cx="687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2932481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Projects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287622" y="402336"/>
            <a:ext cx="12143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Teaching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6997903" y="402336"/>
            <a:ext cx="86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7943393" y="402336"/>
            <a:ext cx="570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8596274" y="402336"/>
            <a:ext cx="9217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9600286" y="402336"/>
            <a:ext cx="1272845" cy="365760"/>
          </a:xfrm>
          <a:prstGeom prst="roundRect">
            <a:avLst>
              <a:gd name="adj" fmla="val 15000"/>
            </a:avLst>
          </a:prstGeom>
          <a:solidFill>
            <a:srgbClr val="D99A2B"/>
          </a:solidFill>
          <a:ln/>
        </p:spPr>
      </p:sp>
      <p:sp>
        <p:nvSpPr>
          <p:cNvPr id="19" name="Text 17"/>
          <p:cNvSpPr/>
          <p:nvPr/>
        </p:nvSpPr>
        <p:spPr>
          <a:xfrm>
            <a:off x="9600286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Achievements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10955426" y="402336"/>
            <a:ext cx="9802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our Team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02920" y="960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Achievements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02920" y="13898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Awards, honours and national-level contributions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18288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 &amp; Honours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1520" y="2377440"/>
            <a:ext cx="548640" cy="310896"/>
          </a:xfrm>
          <a:prstGeom prst="roundRect">
            <a:avLst>
              <a:gd name="adj" fmla="val 14706"/>
            </a:avLst>
          </a:prstGeom>
          <a:solidFill>
            <a:srgbClr val="D99A2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3774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17320" y="23500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Scientist Award, International SWAT Conference, Toulouse, France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" y="2944368"/>
            <a:ext cx="548640" cy="310896"/>
          </a:xfrm>
          <a:prstGeom prst="roundRect">
            <a:avLst>
              <a:gd name="adj" fmla="val 14706"/>
            </a:avLst>
          </a:prstGeom>
          <a:solidFill>
            <a:srgbClr val="D99A2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29443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417320" y="291693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Distinguished Achievement Award — Developers of the SWAT model (USDA-ARS &amp; Texas A&amp;M)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1520" y="3511296"/>
            <a:ext cx="548640" cy="310896"/>
          </a:xfrm>
          <a:prstGeom prst="roundRect">
            <a:avLst>
              <a:gd name="adj" fmla="val 14706"/>
            </a:avLst>
          </a:prstGeom>
          <a:solidFill>
            <a:srgbClr val="D99A2B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51129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417320" y="34838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Director's Award for Best Graduate Student, Texas A&amp;M University, USA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1520" y="4078224"/>
            <a:ext cx="548640" cy="310896"/>
          </a:xfrm>
          <a:prstGeom prst="roundRect">
            <a:avLst>
              <a:gd name="adj" fmla="val 14706"/>
            </a:avLst>
          </a:prstGeom>
          <a:solidFill>
            <a:srgbClr val="D99A2B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0782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417320" y="40507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and Rita Stout International Graduate Student Award, Texas A&amp;M University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99632" y="18288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0B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6428232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National-Level Roles &amp; Impact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428232" y="2468880"/>
            <a:ext cx="82296" cy="8229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23957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Coordinator, Ganga River Basin Management Plan (Pan-IIT project)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28232" y="2903220"/>
            <a:ext cx="82296" cy="8229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42" name="Text 40"/>
          <p:cNvSpPr/>
          <p:nvPr/>
        </p:nvSpPr>
        <p:spPr>
          <a:xfrm>
            <a:off x="6629400" y="28300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“Think Tank” for Water Resources Information System (WRIS), Govt. of India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28232" y="3337560"/>
            <a:ext cx="82296" cy="8229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44" name="Text 42"/>
          <p:cNvSpPr/>
          <p:nvPr/>
        </p:nvSpPr>
        <p:spPr>
          <a:xfrm>
            <a:off x="6629400" y="32644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Developer, HUMID — Hydrologic Unit Model of India (with NRSC, ISRO)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28232" y="3771900"/>
            <a:ext cx="82296" cy="8229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46" name="Text 44"/>
          <p:cNvSpPr/>
          <p:nvPr/>
        </p:nvSpPr>
        <p:spPr>
          <a:xfrm>
            <a:off x="6629400" y="36987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member, Flood Advisory Committee, Chief Minister of Tamil Nadu (2021 floods)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28232" y="4206240"/>
            <a:ext cx="82296" cy="8229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48" name="Text 46"/>
          <p:cNvSpPr/>
          <p:nvPr/>
        </p:nvSpPr>
        <p:spPr>
          <a:xfrm>
            <a:off x="6629400" y="41330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Lead, expert flood forecasting system for Chennai city (post-2015 floods)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" y="4800600"/>
            <a:ext cx="2633472" cy="1234440"/>
          </a:xfrm>
          <a:prstGeom prst="roundRect">
            <a:avLst>
              <a:gd name="adj" fmla="val 5926"/>
            </a:avLst>
          </a:prstGeom>
          <a:solidFill>
            <a:srgbClr val="E5F1F5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910328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57+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640080" y="54406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Publications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319272" y="4800600"/>
            <a:ext cx="2633472" cy="1234440"/>
          </a:xfrm>
          <a:prstGeom prst="roundRect">
            <a:avLst>
              <a:gd name="adj" fmla="val 5926"/>
            </a:avLst>
          </a:prstGeom>
          <a:solidFill>
            <a:srgbClr val="E5F1F5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19272" y="4910328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3456432" y="54406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Training Workshops Conducted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35624" y="4800600"/>
            <a:ext cx="2633472" cy="1234440"/>
          </a:xfrm>
          <a:prstGeom prst="roundRect">
            <a:avLst>
              <a:gd name="adj" fmla="val 5926"/>
            </a:avLst>
          </a:prstGeom>
          <a:solidFill>
            <a:srgbClr val="E5F1F5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35624" y="4910328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27+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6272784" y="54406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since PhD (Texas A&amp;M, 2004)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951976" y="4800600"/>
            <a:ext cx="2633472" cy="1234440"/>
          </a:xfrm>
          <a:prstGeom prst="roundRect">
            <a:avLst>
              <a:gd name="adj" fmla="val 5926"/>
            </a:avLst>
          </a:prstGeom>
          <a:solidFill>
            <a:srgbClr val="E5F1F5"/>
          </a:solidFill>
          <a:ln w="9525">
            <a:solidFill>
              <a:srgbClr val="D8E5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51976" y="4910328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9089136" y="54406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Awards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storyboard — Prof. Balaji Narasimhan, Dept. of Civil Engineering, IIT Madras   |   9 / 10</a:t>
            </a:r>
            <a:endParaRPr lang="en-US" sz="750" dirty="0"/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74A4697D-CC41-4C2F-946E-46DE3559B0FB}"/>
              </a:ext>
            </a:extLst>
          </p:cNvPr>
          <p:cNvSpPr/>
          <p:nvPr/>
        </p:nvSpPr>
        <p:spPr>
          <a:xfrm>
            <a:off x="5584241" y="402336"/>
            <a:ext cx="1331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8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9EDF1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09728"/>
            <a:ext cx="91440" cy="91440"/>
          </a:xfrm>
          <a:prstGeom prst="ellipse">
            <a:avLst/>
          </a:prstGeom>
          <a:solidFill>
            <a:srgbClr val="E0645A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109728"/>
            <a:ext cx="91440" cy="914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09728"/>
            <a:ext cx="91440" cy="91440"/>
          </a:xfrm>
          <a:prstGeom prst="ellipse">
            <a:avLst/>
          </a:prstGeom>
          <a:solidFill>
            <a:srgbClr val="5FB77E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54864"/>
            <a:ext cx="484632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3D9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0292"/>
            <a:ext cx="4846320" cy="18288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6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civil.iitm.ac.in/faculty/nbalaji/join-us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292608"/>
            <a:ext cx="12191695" cy="585216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29260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BALAJI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NARASIMHAN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26718" y="402336"/>
            <a:ext cx="453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162556" y="402336"/>
            <a:ext cx="687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2932481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Projects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4287622" y="402336"/>
            <a:ext cx="12143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Teaching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6997903" y="402336"/>
            <a:ext cx="86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7943393" y="402336"/>
            <a:ext cx="570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8596274" y="402336"/>
            <a:ext cx="9217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9600286" y="402336"/>
            <a:ext cx="12728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Achievements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10955426" y="402336"/>
            <a:ext cx="980237" cy="365760"/>
          </a:xfrm>
          <a:prstGeom prst="roundRect">
            <a:avLst>
              <a:gd name="adj" fmla="val 15000"/>
            </a:avLst>
          </a:prstGeom>
          <a:solidFill>
            <a:srgbClr val="D99A2B"/>
          </a:solidFill>
          <a:ln/>
        </p:spPr>
      </p:sp>
      <p:sp>
        <p:nvSpPr>
          <p:cNvPr id="20" name="Text 18"/>
          <p:cNvSpPr/>
          <p:nvPr/>
        </p:nvSpPr>
        <p:spPr>
          <a:xfrm>
            <a:off x="10955426" y="402336"/>
            <a:ext cx="9802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our Team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02920" y="1097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Our Team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02920" y="16276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always looking for curious, motivated researchers to join the Environmental &amp; Water Resources Engineering Laboratory.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233172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0B2A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24963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Positions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0632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Hydrology, flood/drought forecasting, remote sensing, LID &amp; urban drainage modelling. Funded positions available under sponsored projects.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233172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0B2A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0" y="24963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Postdoctoral Researchers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46520" y="30632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to work on national-scale hydrologic modelling (HUMID) and digital-twin flood forecasting systems.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4087368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0B2A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42885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71600" y="42519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Staff (JRF / SRF)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7240" y="481888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associates and project engineers for ongoing sponsored &amp; consultancy projects.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72200" y="4087368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0B2A4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42885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040880" y="42519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/ BTech Projects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46520" y="481888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and project opportunities for current IIT Madras students interested in water resources engineering.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5806440"/>
            <a:ext cx="12191695" cy="777240"/>
          </a:xfrm>
          <a:prstGeom prst="rect">
            <a:avLst/>
          </a:prstGeom>
          <a:solidFill>
            <a:srgbClr val="D99A2B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5806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Interested? Write to nbalaji@civil.iitm.ac.in with your CV and a short statement of interest.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9235440" y="5971032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081D33"/>
          </a:solidFill>
          <a:ln/>
        </p:spPr>
      </p:sp>
      <p:sp>
        <p:nvSpPr>
          <p:cNvPr id="46" name="Text 44"/>
          <p:cNvSpPr/>
          <p:nvPr/>
        </p:nvSpPr>
        <p:spPr>
          <a:xfrm>
            <a:off x="9235440" y="59710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 →</a:t>
            </a:r>
            <a:endParaRPr lang="en-US" sz="11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B335BEBF-BAC7-4A11-81D8-5891995204C8}"/>
              </a:ext>
            </a:extLst>
          </p:cNvPr>
          <p:cNvSpPr/>
          <p:nvPr/>
        </p:nvSpPr>
        <p:spPr>
          <a:xfrm>
            <a:off x="5584241" y="402336"/>
            <a:ext cx="1331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2030</Words>
  <Application>Microsoft Office PowerPoint</Application>
  <PresentationFormat>Widescreen</PresentationFormat>
  <Paragraphs>369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Elanchezhiyan D</cp:lastModifiedBy>
  <cp:revision>9</cp:revision>
  <dcterms:created xsi:type="dcterms:W3CDTF">2026-08-18T05:15:45Z</dcterms:created>
  <dcterms:modified xsi:type="dcterms:W3CDTF">2026-08-18T07:34:16Z</dcterms:modified>
</cp:coreProperties>
</file>